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4039" r:id="rId1"/>
  </p:sldMasterIdLst>
  <p:sldIdLst>
    <p:sldId id="256" r:id="rId2"/>
    <p:sldId id="257" r:id="rId3"/>
    <p:sldId id="278" r:id="rId4"/>
    <p:sldId id="258" r:id="rId5"/>
    <p:sldId id="259" r:id="rId6"/>
    <p:sldId id="262" r:id="rId7"/>
    <p:sldId id="263" r:id="rId8"/>
    <p:sldId id="264" r:id="rId9"/>
    <p:sldId id="261" r:id="rId10"/>
    <p:sldId id="265" r:id="rId11"/>
    <p:sldId id="266" r:id="rId12"/>
    <p:sldId id="267" r:id="rId13"/>
    <p:sldId id="273" r:id="rId14"/>
    <p:sldId id="276" r:id="rId15"/>
    <p:sldId id="275" r:id="rId16"/>
    <p:sldId id="274" r:id="rId17"/>
    <p:sldId id="277" r:id="rId18"/>
    <p:sldId id="268" r:id="rId19"/>
    <p:sldId id="269" r:id="rId20"/>
    <p:sldId id="272"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 initials="A" lastIdx="1" clrIdx="0">
    <p:extLst>
      <p:ext uri="{19B8F6BF-5375-455C-9EA6-DF929625EA0E}">
        <p15:presenceInfo xmlns:p15="http://schemas.microsoft.com/office/powerpoint/2012/main" userId="eae67fe2ea67dbd6"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92" d="100"/>
          <a:sy n="92" d="100"/>
        </p:scale>
        <p:origin x="336"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ommentAuthors" Target="commentAuthor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0278019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718416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210319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11/4/2025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4902453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11/4/2025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362672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11/4/2025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459635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11/4/2025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614402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11/4/2025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5578685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11/4/2025</a:t>
            </a:fld>
            <a:endParaRPr lang="en-US" dirty="0"/>
          </a:p>
        </p:txBody>
      </p:sp>
    </p:spTree>
    <p:extLst>
      <p:ext uri="{BB962C8B-B14F-4D97-AF65-F5344CB8AC3E}">
        <p14:creationId xmlns:p14="http://schemas.microsoft.com/office/powerpoint/2010/main" val="34512726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134496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8179473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200344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8600083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469929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15603949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016742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11/4/2025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99554266"/>
      </p:ext>
    </p:extLst>
  </p:cSld>
  <p:clrMap bg1="lt1" tx1="dk1" bg2="lt2" tx2="dk2" accent1="accent1" accent2="accent2" accent3="accent3" accent4="accent4" accent5="accent5" accent6="accent6" hlink="hlink" folHlink="folHlink"/>
  <p:sldLayoutIdLst>
    <p:sldLayoutId id="2147484040" r:id="rId1"/>
    <p:sldLayoutId id="2147484041" r:id="rId2"/>
    <p:sldLayoutId id="2147484042" r:id="rId3"/>
    <p:sldLayoutId id="2147484043" r:id="rId4"/>
    <p:sldLayoutId id="2147484044" r:id="rId5"/>
    <p:sldLayoutId id="2147484045" r:id="rId6"/>
    <p:sldLayoutId id="2147484046" r:id="rId7"/>
    <p:sldLayoutId id="2147484047" r:id="rId8"/>
    <p:sldLayoutId id="2147484048" r:id="rId9"/>
    <p:sldLayoutId id="2147484049" r:id="rId10"/>
    <p:sldLayoutId id="2147484050" r:id="rId11"/>
    <p:sldLayoutId id="2147484051" r:id="rId12"/>
    <p:sldLayoutId id="2147484052" r:id="rId13"/>
    <p:sldLayoutId id="2147484053" r:id="rId14"/>
    <p:sldLayoutId id="2147484054" r:id="rId15"/>
    <p:sldLayoutId id="2147484055" r:id="rId16"/>
  </p:sldLayoutIdLst>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4D5FBA-7604-4B63-B7FD-41224655FF00}"/>
              </a:ext>
            </a:extLst>
          </p:cNvPr>
          <p:cNvSpPr>
            <a:spLocks noGrp="1"/>
          </p:cNvSpPr>
          <p:nvPr>
            <p:ph type="title"/>
          </p:nvPr>
        </p:nvSpPr>
        <p:spPr>
          <a:xfrm>
            <a:off x="829735" y="837775"/>
            <a:ext cx="8596668" cy="3403600"/>
          </a:xfrm>
        </p:spPr>
        <p:txBody>
          <a:bodyPr>
            <a:normAutofit/>
          </a:bodyPr>
          <a:lstStyle/>
          <a:p>
            <a:pPr algn="ctr"/>
            <a:r>
              <a:rPr lang="en-US" b="1" dirty="0">
                <a:solidFill>
                  <a:schemeClr val="accent2">
                    <a:lumMod val="75000"/>
                  </a:schemeClr>
                </a:solidFill>
                <a:latin typeface="Engravers MT" panose="02090707080505020304" pitchFamily="18" charset="0"/>
              </a:rPr>
              <a:t>Cyber Security Awareness</a:t>
            </a:r>
            <a:endParaRPr lang="en-IN" b="1" dirty="0">
              <a:solidFill>
                <a:schemeClr val="accent2">
                  <a:lumMod val="75000"/>
                </a:schemeClr>
              </a:solidFill>
              <a:latin typeface="Engravers MT" panose="02090707080505020304" pitchFamily="18" charset="0"/>
            </a:endParaRPr>
          </a:p>
        </p:txBody>
      </p:sp>
      <p:sp>
        <p:nvSpPr>
          <p:cNvPr id="5" name="Text Placeholder 4">
            <a:extLst>
              <a:ext uri="{FF2B5EF4-FFF2-40B4-BE49-F238E27FC236}">
                <a16:creationId xmlns:a16="http://schemas.microsoft.com/office/drawing/2014/main" id="{C1383925-F790-41FE-9C5F-4EF2C072A283}"/>
              </a:ext>
            </a:extLst>
          </p:cNvPr>
          <p:cNvSpPr>
            <a:spLocks noGrp="1"/>
          </p:cNvSpPr>
          <p:nvPr>
            <p:ph type="body" idx="1"/>
          </p:nvPr>
        </p:nvSpPr>
        <p:spPr>
          <a:xfrm>
            <a:off x="829735" y="3769659"/>
            <a:ext cx="8596668" cy="1570962"/>
          </a:xfrm>
        </p:spPr>
        <p:txBody>
          <a:bodyPr>
            <a:normAutofit/>
          </a:bodyPr>
          <a:lstStyle/>
          <a:p>
            <a:pPr marL="457200" indent="-457200">
              <a:buFont typeface="Wingdings" panose="05000000000000000000" pitchFamily="2" charset="2"/>
              <a:buChar char="Ø"/>
            </a:pPr>
            <a:r>
              <a:rPr lang="en-US" sz="2800" dirty="0"/>
              <a:t>Conducting Workshops and Creating Resources to Educate</a:t>
            </a:r>
            <a:r>
              <a:rPr lang="en-US" sz="3200" dirty="0"/>
              <a:t> </a:t>
            </a:r>
            <a:r>
              <a:rPr lang="en-US" sz="2800" dirty="0"/>
              <a:t>Vulnerable</a:t>
            </a:r>
            <a:r>
              <a:rPr lang="en-US" sz="3200" dirty="0"/>
              <a:t> </a:t>
            </a:r>
            <a:r>
              <a:rPr lang="en-US" sz="2800" dirty="0"/>
              <a:t>Groups in Rural/Urban Areas </a:t>
            </a:r>
            <a:endParaRPr lang="en-IN" sz="2800" dirty="0"/>
          </a:p>
        </p:txBody>
      </p:sp>
    </p:spTree>
    <p:extLst>
      <p:ext uri="{BB962C8B-B14F-4D97-AF65-F5344CB8AC3E}">
        <p14:creationId xmlns:p14="http://schemas.microsoft.com/office/powerpoint/2010/main" val="15068477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FA90FA8-76A8-4F55-BDD8-2EDD2B781CB9}"/>
              </a:ext>
            </a:extLst>
          </p:cNvPr>
          <p:cNvSpPr>
            <a:spLocks noGrp="1"/>
          </p:cNvSpPr>
          <p:nvPr>
            <p:ph type="title"/>
          </p:nvPr>
        </p:nvSpPr>
        <p:spPr/>
        <p:txBody>
          <a:bodyPr>
            <a:noAutofit/>
          </a:bodyPr>
          <a:lstStyle/>
          <a:p>
            <a:r>
              <a:rPr lang="en-IN" sz="4800" b="1" dirty="0">
                <a:solidFill>
                  <a:schemeClr val="bg2">
                    <a:lumMod val="25000"/>
                  </a:schemeClr>
                </a:solidFill>
              </a:rPr>
              <a:t>1. Project Details</a:t>
            </a:r>
            <a:br>
              <a:rPr lang="en-IN" sz="2800" b="1" dirty="0"/>
            </a:br>
            <a:endParaRPr lang="en-IN" sz="2800" b="1" dirty="0"/>
          </a:p>
        </p:txBody>
      </p:sp>
      <p:sp>
        <p:nvSpPr>
          <p:cNvPr id="7" name="Content Placeholder 6">
            <a:extLst>
              <a:ext uri="{FF2B5EF4-FFF2-40B4-BE49-F238E27FC236}">
                <a16:creationId xmlns:a16="http://schemas.microsoft.com/office/drawing/2014/main" id="{A5BD0AFE-144B-4A32-9CAD-F03184658DA2}"/>
              </a:ext>
            </a:extLst>
          </p:cNvPr>
          <p:cNvSpPr>
            <a:spLocks noGrp="1"/>
          </p:cNvSpPr>
          <p:nvPr>
            <p:ph idx="1"/>
          </p:nvPr>
        </p:nvSpPr>
        <p:spPr/>
        <p:txBody>
          <a:bodyPr>
            <a:normAutofit fontScale="92500" lnSpcReduction="10000"/>
          </a:bodyPr>
          <a:lstStyle/>
          <a:p>
            <a:r>
              <a:rPr lang="en-US" sz="2000" b="1" dirty="0"/>
              <a:t>Student's Name: </a:t>
            </a:r>
            <a:r>
              <a:rPr lang="en-US" sz="2000" dirty="0"/>
              <a:t>1. Vaishnav Dattatray </a:t>
            </a:r>
            <a:r>
              <a:rPr lang="en-US" sz="2000" dirty="0" err="1"/>
              <a:t>Nandarge</a:t>
            </a:r>
            <a:endParaRPr lang="en-US" sz="2000" dirty="0"/>
          </a:p>
          <a:p>
            <a:pPr marL="1828800" lvl="4" indent="0">
              <a:buNone/>
            </a:pPr>
            <a:r>
              <a:rPr lang="en-US" sz="2000" dirty="0"/>
              <a:t>      2. Harish Nivruti </a:t>
            </a:r>
            <a:r>
              <a:rPr lang="en-US" sz="2000" dirty="0" err="1"/>
              <a:t>Dhake</a:t>
            </a:r>
            <a:endParaRPr lang="en-US" sz="2000" dirty="0"/>
          </a:p>
          <a:p>
            <a:r>
              <a:rPr lang="en-US" sz="2000" dirty="0"/>
              <a:t> </a:t>
            </a:r>
            <a:r>
              <a:rPr lang="en-US" sz="2000" b="1" dirty="0"/>
              <a:t>Roll Number: </a:t>
            </a:r>
            <a:r>
              <a:rPr lang="en-US" sz="2000" dirty="0"/>
              <a:t>1. 253422161</a:t>
            </a:r>
          </a:p>
          <a:p>
            <a:pPr marL="1828800" lvl="4" indent="0">
              <a:buNone/>
            </a:pPr>
            <a:r>
              <a:rPr lang="en-US" sz="2000" dirty="0"/>
              <a:t>  2.253422160</a:t>
            </a:r>
          </a:p>
          <a:p>
            <a:r>
              <a:rPr lang="en-US" sz="2000" b="1" dirty="0"/>
              <a:t>Course Name: </a:t>
            </a:r>
            <a:r>
              <a:rPr lang="en-US" sz="2000" dirty="0"/>
              <a:t>SYBCA </a:t>
            </a:r>
          </a:p>
          <a:p>
            <a:r>
              <a:rPr lang="en-US" sz="2000" b="1" dirty="0"/>
              <a:t>Department: </a:t>
            </a:r>
            <a:r>
              <a:rPr lang="en-US" sz="2000" dirty="0"/>
              <a:t>BCA (Science) </a:t>
            </a:r>
          </a:p>
          <a:p>
            <a:r>
              <a:rPr lang="en-US" sz="2000" b="1" dirty="0"/>
              <a:t>Institution Name: </a:t>
            </a:r>
            <a:r>
              <a:rPr lang="en-US" sz="2000" dirty="0"/>
              <a:t>Modern College of Arts, Science, and Commerce, Ganeshkhind-16</a:t>
            </a:r>
          </a:p>
          <a:p>
            <a:r>
              <a:rPr lang="en-US" sz="2000" b="1" dirty="0"/>
              <a:t>Project Guide's Name:</a:t>
            </a:r>
            <a:r>
              <a:rPr lang="en-US" sz="2000" dirty="0"/>
              <a:t> </a:t>
            </a:r>
            <a:r>
              <a:rPr lang="en-US" sz="2400" b="1" dirty="0"/>
              <a:t>Prof. Manasi Jadhav Mam</a:t>
            </a:r>
            <a:endParaRPr lang="en-US" sz="2000" b="1" dirty="0"/>
          </a:p>
          <a:p>
            <a:r>
              <a:rPr lang="en-US" sz="2000" b="1" dirty="0"/>
              <a:t> Date of Submission: </a:t>
            </a:r>
            <a:r>
              <a:rPr lang="en-US" sz="2000" dirty="0"/>
              <a:t>[Submission Date]</a:t>
            </a:r>
            <a:endParaRPr lang="en-IN" sz="2000" dirty="0"/>
          </a:p>
        </p:txBody>
      </p:sp>
    </p:spTree>
    <p:extLst>
      <p:ext uri="{BB962C8B-B14F-4D97-AF65-F5344CB8AC3E}">
        <p14:creationId xmlns:p14="http://schemas.microsoft.com/office/powerpoint/2010/main" val="35417398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F76416-795E-404B-9F4C-CCBC552A7563}"/>
              </a:ext>
            </a:extLst>
          </p:cNvPr>
          <p:cNvSpPr>
            <a:spLocks noGrp="1"/>
          </p:cNvSpPr>
          <p:nvPr>
            <p:ph type="title"/>
          </p:nvPr>
        </p:nvSpPr>
        <p:spPr/>
        <p:txBody>
          <a:bodyPr>
            <a:normAutofit/>
          </a:bodyPr>
          <a:lstStyle/>
          <a:p>
            <a:r>
              <a:rPr lang="en-IN" sz="4400" b="1" dirty="0">
                <a:solidFill>
                  <a:schemeClr val="tx1">
                    <a:lumMod val="85000"/>
                    <a:lumOff val="15000"/>
                  </a:schemeClr>
                </a:solidFill>
              </a:rPr>
              <a:t>2.Workshop Agenda</a:t>
            </a:r>
          </a:p>
        </p:txBody>
      </p:sp>
      <p:sp>
        <p:nvSpPr>
          <p:cNvPr id="3" name="Content Placeholder 2">
            <a:extLst>
              <a:ext uri="{FF2B5EF4-FFF2-40B4-BE49-F238E27FC236}">
                <a16:creationId xmlns:a16="http://schemas.microsoft.com/office/drawing/2014/main" id="{9861DFDC-3106-45DF-8868-B8A1047EEF93}"/>
              </a:ext>
            </a:extLst>
          </p:cNvPr>
          <p:cNvSpPr>
            <a:spLocks noGrp="1"/>
          </p:cNvSpPr>
          <p:nvPr>
            <p:ph idx="1"/>
          </p:nvPr>
        </p:nvSpPr>
        <p:spPr/>
        <p:txBody>
          <a:bodyPr>
            <a:normAutofit lnSpcReduction="10000"/>
          </a:bodyPr>
          <a:lstStyle/>
          <a:p>
            <a:r>
              <a:rPr lang="en-US" sz="2000" b="1" dirty="0"/>
              <a:t>Introduction</a:t>
            </a:r>
            <a:r>
              <a:rPr lang="en-US" sz="2000" dirty="0"/>
              <a:t> – Importance of cybersecurity for students.</a:t>
            </a:r>
          </a:p>
          <a:p>
            <a:r>
              <a:rPr lang="en-US" sz="2000" b="1" dirty="0"/>
              <a:t>Common Threats</a:t>
            </a:r>
            <a:r>
              <a:rPr lang="en-US" sz="2000" dirty="0"/>
              <a:t> – Bank scams, phishing, fake offers.</a:t>
            </a:r>
          </a:p>
          <a:p>
            <a:r>
              <a:rPr lang="en-US" sz="2000" b="1" dirty="0"/>
              <a:t>How Students Get Trapped</a:t>
            </a:r>
            <a:r>
              <a:rPr lang="en-US" sz="2000" dirty="0"/>
              <a:t> – Sharing OTP, PIN, or passwords; social media/app traps.</a:t>
            </a:r>
          </a:p>
          <a:p>
            <a:r>
              <a:rPr lang="en-US" sz="2000" b="1" dirty="0"/>
              <a:t>Prevention Tips</a:t>
            </a:r>
            <a:r>
              <a:rPr lang="en-US" sz="2000" dirty="0"/>
              <a:t> – Strong passwords, verify messages, safe browsing, device updates.</a:t>
            </a:r>
          </a:p>
          <a:p>
            <a:r>
              <a:rPr lang="en-US" sz="2000" b="1" dirty="0"/>
              <a:t>Reporting Scams</a:t>
            </a:r>
            <a:r>
              <a:rPr lang="en-US" sz="2000" dirty="0"/>
              <a:t> – How to report suspicious messages or calls.</a:t>
            </a:r>
          </a:p>
          <a:p>
            <a:r>
              <a:rPr lang="en-US" sz="2000" b="1" dirty="0"/>
              <a:t>Q&amp;A &amp; Discussion</a:t>
            </a:r>
            <a:r>
              <a:rPr lang="en-US" sz="2000" dirty="0"/>
              <a:t> – Students share experiences and ask questions.</a:t>
            </a:r>
          </a:p>
          <a:p>
            <a:r>
              <a:rPr lang="en-US" sz="2000" b="1" dirty="0"/>
              <a:t>Key Takeaways</a:t>
            </a:r>
            <a:r>
              <a:rPr lang="en-US" sz="2000" dirty="0"/>
              <a:t> – Recap points and encourage sharing knowledge with peers.</a:t>
            </a:r>
          </a:p>
          <a:p>
            <a:endParaRPr lang="en-IN" sz="2000" dirty="0"/>
          </a:p>
        </p:txBody>
      </p:sp>
    </p:spTree>
    <p:extLst>
      <p:ext uri="{BB962C8B-B14F-4D97-AF65-F5344CB8AC3E}">
        <p14:creationId xmlns:p14="http://schemas.microsoft.com/office/powerpoint/2010/main" val="36658547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68CF51-E6E6-42C7-A8C5-16026CB93F8A}"/>
              </a:ext>
            </a:extLst>
          </p:cNvPr>
          <p:cNvSpPr>
            <a:spLocks noGrp="1"/>
          </p:cNvSpPr>
          <p:nvPr>
            <p:ph type="title"/>
          </p:nvPr>
        </p:nvSpPr>
        <p:spPr/>
        <p:txBody>
          <a:bodyPr>
            <a:normAutofit/>
          </a:bodyPr>
          <a:lstStyle/>
          <a:p>
            <a:r>
              <a:rPr lang="en-US" sz="4400" b="1" dirty="0">
                <a:solidFill>
                  <a:schemeClr val="bg2">
                    <a:lumMod val="25000"/>
                  </a:schemeClr>
                </a:solidFill>
              </a:rPr>
              <a:t>3. Declaration</a:t>
            </a:r>
            <a:endParaRPr lang="en-IN" sz="4400" b="1" dirty="0">
              <a:solidFill>
                <a:schemeClr val="bg2">
                  <a:lumMod val="25000"/>
                </a:schemeClr>
              </a:solidFill>
            </a:endParaRPr>
          </a:p>
        </p:txBody>
      </p:sp>
      <p:sp>
        <p:nvSpPr>
          <p:cNvPr id="3" name="Content Placeholder 2">
            <a:extLst>
              <a:ext uri="{FF2B5EF4-FFF2-40B4-BE49-F238E27FC236}">
                <a16:creationId xmlns:a16="http://schemas.microsoft.com/office/drawing/2014/main" id="{34EA8367-008A-4AAE-B972-750B922C9FA0}"/>
              </a:ext>
            </a:extLst>
          </p:cNvPr>
          <p:cNvSpPr>
            <a:spLocks noGrp="1"/>
          </p:cNvSpPr>
          <p:nvPr>
            <p:ph idx="1"/>
          </p:nvPr>
        </p:nvSpPr>
        <p:spPr/>
        <p:txBody>
          <a:bodyPr>
            <a:normAutofit/>
          </a:bodyPr>
          <a:lstStyle/>
          <a:p>
            <a:r>
              <a:rPr lang="en-IN" sz="2200" dirty="0"/>
              <a:t>I, Vaishnav &amp; Harish hereby declare that the project report titled </a:t>
            </a:r>
            <a:r>
              <a:rPr lang="en-IN" sz="2200" i="1" dirty="0"/>
              <a:t>“Cyber Security Awareness: Promoting Safe Digital Practices Across Educational Institutions in Pune and Surrounding Areas”</a:t>
            </a:r>
            <a:r>
              <a:rPr lang="en-IN" sz="2200" dirty="0"/>
              <a:t> is the result of my independent study and effort, carried out under the valuable guidance of Prof. Manasi Jadhav. This work has not been submitted for any other degree or diploma</a:t>
            </a:r>
          </a:p>
        </p:txBody>
      </p:sp>
    </p:spTree>
    <p:extLst>
      <p:ext uri="{BB962C8B-B14F-4D97-AF65-F5344CB8AC3E}">
        <p14:creationId xmlns:p14="http://schemas.microsoft.com/office/powerpoint/2010/main" val="20318931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242C3-745A-4139-BFCC-937E89227E1A}"/>
              </a:ext>
            </a:extLst>
          </p:cNvPr>
          <p:cNvSpPr>
            <a:spLocks noGrp="1"/>
          </p:cNvSpPr>
          <p:nvPr>
            <p:ph type="title"/>
          </p:nvPr>
        </p:nvSpPr>
        <p:spPr/>
        <p:txBody>
          <a:bodyPr>
            <a:normAutofit/>
          </a:bodyPr>
          <a:lstStyle/>
          <a:p>
            <a:r>
              <a:rPr lang="en-IN" sz="4000" b="1" dirty="0">
                <a:solidFill>
                  <a:schemeClr val="bg2">
                    <a:lumMod val="25000"/>
                  </a:schemeClr>
                </a:solidFill>
              </a:rPr>
              <a:t>4. Acknowledgment</a:t>
            </a:r>
          </a:p>
        </p:txBody>
      </p:sp>
      <p:sp>
        <p:nvSpPr>
          <p:cNvPr id="3" name="Content Placeholder 2">
            <a:extLst>
              <a:ext uri="{FF2B5EF4-FFF2-40B4-BE49-F238E27FC236}">
                <a16:creationId xmlns:a16="http://schemas.microsoft.com/office/drawing/2014/main" id="{0966B122-CC57-4442-9BD5-65120BC88917}"/>
              </a:ext>
            </a:extLst>
          </p:cNvPr>
          <p:cNvSpPr>
            <a:spLocks noGrp="1"/>
          </p:cNvSpPr>
          <p:nvPr>
            <p:ph idx="1"/>
          </p:nvPr>
        </p:nvSpPr>
        <p:spPr/>
        <p:txBody>
          <a:bodyPr>
            <a:normAutofit/>
          </a:bodyPr>
          <a:lstStyle/>
          <a:p>
            <a:pPr marL="0" indent="0">
              <a:buNone/>
            </a:pPr>
            <a:r>
              <a:rPr lang="en-US" sz="2200" dirty="0"/>
              <a:t>I would like to express my sincere gratitude to my project guide, </a:t>
            </a:r>
            <a:r>
              <a:rPr lang="en-US" sz="2200" b="1" dirty="0"/>
              <a:t>Prof. Manasi Jadhav</a:t>
            </a:r>
            <a:r>
              <a:rPr lang="en-US" sz="2200" dirty="0"/>
              <a:t>, for their continuous support and guidance throughout the project. I also thank the for </a:t>
            </a:r>
            <a:r>
              <a:rPr lang="en-US" sz="2200" b="1" dirty="0" err="1"/>
              <a:t>Sakal</a:t>
            </a:r>
            <a:r>
              <a:rPr lang="en-US" sz="2200" b="1" dirty="0"/>
              <a:t> NIE (NEWS PAPER IN EDUCATION)</a:t>
            </a:r>
            <a:r>
              <a:rPr lang="en-US" sz="2200" dirty="0"/>
              <a:t> is a specialized publication by </a:t>
            </a:r>
            <a:r>
              <a:rPr lang="en-US" sz="2200" dirty="0" err="1"/>
              <a:t>Sakal</a:t>
            </a:r>
            <a:r>
              <a:rPr lang="en-US" sz="2200" dirty="0"/>
              <a:t> Media Group designed to bring current affairs, stories, quizzes, and other educational content into classrooms across Pune and its surrounding zonal areas allowing me to conduct workshops in their , and the participants for their active involvement. My heartfelt thanks to my guidance and </a:t>
            </a:r>
            <a:r>
              <a:rPr lang="en-IN" sz="2200" dirty="0"/>
              <a:t>colleague</a:t>
            </a:r>
            <a:r>
              <a:rPr lang="en-US" sz="2200" dirty="0"/>
              <a:t> for their encouragement and motivation.</a:t>
            </a:r>
            <a:endParaRPr lang="en-IN" sz="2200" dirty="0"/>
          </a:p>
        </p:txBody>
      </p:sp>
    </p:spTree>
    <p:extLst>
      <p:ext uri="{BB962C8B-B14F-4D97-AF65-F5344CB8AC3E}">
        <p14:creationId xmlns:p14="http://schemas.microsoft.com/office/powerpoint/2010/main" val="21817498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82CE6-7177-46BA-89D4-6C3B745EA00C}"/>
              </a:ext>
            </a:extLst>
          </p:cNvPr>
          <p:cNvSpPr>
            <a:spLocks noGrp="1"/>
          </p:cNvSpPr>
          <p:nvPr>
            <p:ph type="title"/>
          </p:nvPr>
        </p:nvSpPr>
        <p:spPr/>
        <p:txBody>
          <a:bodyPr>
            <a:normAutofit/>
          </a:bodyPr>
          <a:lstStyle/>
          <a:p>
            <a:r>
              <a:rPr lang="en-US" sz="4400" b="1" dirty="0">
                <a:solidFill>
                  <a:schemeClr val="bg2">
                    <a:lumMod val="25000"/>
                  </a:schemeClr>
                </a:solidFill>
              </a:rPr>
              <a:t>5. Abstract</a:t>
            </a:r>
            <a:endParaRPr lang="en-IN" sz="4400" b="1" dirty="0">
              <a:solidFill>
                <a:schemeClr val="bg2">
                  <a:lumMod val="25000"/>
                </a:schemeClr>
              </a:solidFill>
            </a:endParaRPr>
          </a:p>
        </p:txBody>
      </p:sp>
      <p:sp>
        <p:nvSpPr>
          <p:cNvPr id="3" name="Content Placeholder 2">
            <a:extLst>
              <a:ext uri="{FF2B5EF4-FFF2-40B4-BE49-F238E27FC236}">
                <a16:creationId xmlns:a16="http://schemas.microsoft.com/office/drawing/2014/main" id="{9F0EA193-808A-470F-8B64-AB097618B1BE}"/>
              </a:ext>
            </a:extLst>
          </p:cNvPr>
          <p:cNvSpPr>
            <a:spLocks noGrp="1"/>
          </p:cNvSpPr>
          <p:nvPr>
            <p:ph idx="1"/>
          </p:nvPr>
        </p:nvSpPr>
        <p:spPr/>
        <p:txBody>
          <a:bodyPr>
            <a:normAutofit fontScale="92500" lnSpcReduction="10000"/>
          </a:bodyPr>
          <a:lstStyle/>
          <a:p>
            <a:r>
              <a:rPr lang="en-IN" sz="2400" dirty="0"/>
              <a:t>This project emphasizes the importance of </a:t>
            </a:r>
            <a:r>
              <a:rPr lang="en-IN" sz="2400" b="1" dirty="0"/>
              <a:t>cybersecurity awareness among students</a:t>
            </a:r>
            <a:r>
              <a:rPr lang="en-IN" sz="2400" dirty="0"/>
              <a:t> in an era where digital dependency is growing rapidly.</a:t>
            </a:r>
          </a:p>
          <a:p>
            <a:r>
              <a:rPr lang="en-IN" sz="2400" dirty="0"/>
              <a:t>Workshops were organized across </a:t>
            </a:r>
            <a:r>
              <a:rPr lang="en-IN" sz="2400" b="1" dirty="0"/>
              <a:t>various educational institutions in Pune and adjoining zones</a:t>
            </a:r>
            <a:r>
              <a:rPr lang="en-IN" sz="2400" dirty="0"/>
              <a:t> to educate students about online security, responsible internet usage, and protection against cyber threats such as phishing, social engineering, and data theft.</a:t>
            </a:r>
          </a:p>
          <a:p>
            <a:r>
              <a:rPr lang="en-IN" sz="2400" dirty="0"/>
              <a:t>Through interactive presentations, demonstrations, and real-life examples, the initiative successfully improved digital literacy and encouraged students to adopt safer online habits.</a:t>
            </a:r>
          </a:p>
          <a:p>
            <a:endParaRPr lang="en-IN" sz="2800" dirty="0"/>
          </a:p>
        </p:txBody>
      </p:sp>
    </p:spTree>
    <p:extLst>
      <p:ext uri="{BB962C8B-B14F-4D97-AF65-F5344CB8AC3E}">
        <p14:creationId xmlns:p14="http://schemas.microsoft.com/office/powerpoint/2010/main" val="15704496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97ABD-82C9-41E4-8382-1C459A4ADF41}"/>
              </a:ext>
            </a:extLst>
          </p:cNvPr>
          <p:cNvSpPr>
            <a:spLocks noGrp="1"/>
          </p:cNvSpPr>
          <p:nvPr>
            <p:ph type="title"/>
          </p:nvPr>
        </p:nvSpPr>
        <p:spPr/>
        <p:txBody>
          <a:bodyPr>
            <a:normAutofit/>
          </a:bodyPr>
          <a:lstStyle/>
          <a:p>
            <a:r>
              <a:rPr lang="en-US" sz="4000" b="1" dirty="0">
                <a:solidFill>
                  <a:schemeClr val="bg2">
                    <a:lumMod val="25000"/>
                  </a:schemeClr>
                </a:solidFill>
              </a:rPr>
              <a:t>6. Introduction</a:t>
            </a:r>
            <a:endParaRPr lang="en-IN" sz="4000" b="1" dirty="0">
              <a:solidFill>
                <a:schemeClr val="bg2">
                  <a:lumMod val="25000"/>
                </a:schemeClr>
              </a:solidFill>
            </a:endParaRPr>
          </a:p>
        </p:txBody>
      </p:sp>
      <p:sp>
        <p:nvSpPr>
          <p:cNvPr id="3" name="Content Placeholder 2">
            <a:extLst>
              <a:ext uri="{FF2B5EF4-FFF2-40B4-BE49-F238E27FC236}">
                <a16:creationId xmlns:a16="http://schemas.microsoft.com/office/drawing/2014/main" id="{ABFFB878-E8D7-45FE-B28B-515488C36670}"/>
              </a:ext>
            </a:extLst>
          </p:cNvPr>
          <p:cNvSpPr>
            <a:spLocks noGrp="1"/>
          </p:cNvSpPr>
          <p:nvPr>
            <p:ph idx="1"/>
          </p:nvPr>
        </p:nvSpPr>
        <p:spPr>
          <a:xfrm>
            <a:off x="606267" y="2177376"/>
            <a:ext cx="8596668" cy="5826965"/>
          </a:xfrm>
        </p:spPr>
        <p:txBody>
          <a:bodyPr>
            <a:noAutofit/>
          </a:bodyPr>
          <a:lstStyle/>
          <a:p>
            <a:r>
              <a:rPr lang="en-US" sz="2000" b="1" dirty="0"/>
              <a:t>Background: </a:t>
            </a:r>
            <a:r>
              <a:rPr lang="en-IN" sz="2000" dirty="0"/>
              <a:t>The increasing use of technology in education has exposed students to both opportunities and risks.</a:t>
            </a:r>
            <a:br>
              <a:rPr lang="en-IN" sz="2000" dirty="0"/>
            </a:br>
            <a:r>
              <a:rPr lang="en-IN" sz="2000" dirty="0"/>
              <a:t>Many young users lack awareness of basic cybersecurity practices, making them vulnerable to scams, data breaches, and privacy violations.</a:t>
            </a:r>
            <a:endParaRPr lang="en-US" sz="2400" dirty="0"/>
          </a:p>
          <a:p>
            <a:r>
              <a:rPr lang="en-US" sz="2000" b="1" dirty="0"/>
              <a:t>Purpose and Objectives: </a:t>
            </a:r>
            <a:r>
              <a:rPr lang="en-IN" sz="2000" dirty="0"/>
              <a:t>This project was designed to </a:t>
            </a:r>
            <a:r>
              <a:rPr lang="en-IN" sz="2000" b="1" dirty="0"/>
              <a:t>bridge that gap</a:t>
            </a:r>
            <a:r>
              <a:rPr lang="en-IN" sz="2000" dirty="0"/>
              <a:t> by introducing cybersecurity knowledge directly into classrooms.</a:t>
            </a:r>
            <a:br>
              <a:rPr lang="en-IN" sz="2000" dirty="0"/>
            </a:br>
            <a:r>
              <a:rPr lang="en-IN" sz="2000" dirty="0"/>
              <a:t>By conducting workshops and interactive learning sessions across Pune and its surrounding areas, the project aimed to cultivate a culture of safe and responsible digital </a:t>
            </a:r>
            <a:r>
              <a:rPr lang="en-IN" sz="2000" dirty="0" err="1"/>
              <a:t>behavior</a:t>
            </a:r>
            <a:r>
              <a:rPr lang="en-IN" sz="2000" dirty="0"/>
              <a:t> among students.</a:t>
            </a:r>
          </a:p>
        </p:txBody>
      </p:sp>
    </p:spTree>
    <p:extLst>
      <p:ext uri="{BB962C8B-B14F-4D97-AF65-F5344CB8AC3E}">
        <p14:creationId xmlns:p14="http://schemas.microsoft.com/office/powerpoint/2010/main" val="6837623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0E3DF0B-F215-4004-B659-408666FF394D}"/>
              </a:ext>
            </a:extLst>
          </p:cNvPr>
          <p:cNvSpPr>
            <a:spLocks noGrp="1"/>
          </p:cNvSpPr>
          <p:nvPr>
            <p:ph idx="1"/>
          </p:nvPr>
        </p:nvSpPr>
        <p:spPr/>
        <p:txBody>
          <a:bodyPr>
            <a:normAutofit/>
          </a:bodyPr>
          <a:lstStyle/>
          <a:p>
            <a:r>
              <a:rPr lang="en-US" sz="2000" b="1" dirty="0"/>
              <a:t>Scope of the Project: </a:t>
            </a:r>
            <a:r>
              <a:rPr lang="en-IN" sz="2000" dirty="0"/>
              <a:t>cyber risks such as data theft, phishing, and cyberbullying.</a:t>
            </a:r>
          </a:p>
          <a:p>
            <a:r>
              <a:rPr lang="en-IN" sz="2000" b="1" dirty="0"/>
              <a:t>Objective: </a:t>
            </a:r>
            <a:r>
              <a:rPr lang="en-IN" sz="2000" dirty="0"/>
              <a:t>The project’s main objective was to introduce cybersecurity education in classrooms and empower students to recognize and prevent common online threats.</a:t>
            </a:r>
            <a:endParaRPr lang="en-IN" dirty="0"/>
          </a:p>
          <a:p>
            <a:r>
              <a:rPr lang="en-US" sz="2000" b="1" dirty="0"/>
              <a:t>Importance:</a:t>
            </a:r>
            <a:r>
              <a:rPr lang="en-IN" sz="2000" dirty="0"/>
              <a:t>The workshops conducted in multiple schools and colleges around Pune provided participants with a foundation in </a:t>
            </a:r>
            <a:r>
              <a:rPr lang="en-IN" sz="2000" b="1" dirty="0"/>
              <a:t>safe digital practices</a:t>
            </a:r>
            <a:r>
              <a:rPr lang="en-IN" sz="2000" dirty="0"/>
              <a:t>, ensuring they are equipped to navigate the internet securely and responsibly.</a:t>
            </a:r>
          </a:p>
          <a:p>
            <a:endParaRPr lang="en-IN" sz="2000" dirty="0"/>
          </a:p>
        </p:txBody>
      </p:sp>
    </p:spTree>
    <p:extLst>
      <p:ext uri="{BB962C8B-B14F-4D97-AF65-F5344CB8AC3E}">
        <p14:creationId xmlns:p14="http://schemas.microsoft.com/office/powerpoint/2010/main" val="35468147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6243C-2329-49A8-90F6-E85649802537}"/>
              </a:ext>
            </a:extLst>
          </p:cNvPr>
          <p:cNvSpPr>
            <a:spLocks noGrp="1"/>
          </p:cNvSpPr>
          <p:nvPr>
            <p:ph type="title"/>
          </p:nvPr>
        </p:nvSpPr>
        <p:spPr/>
        <p:txBody>
          <a:bodyPr>
            <a:normAutofit/>
          </a:bodyPr>
          <a:lstStyle/>
          <a:p>
            <a:r>
              <a:rPr lang="en-US" sz="4000" b="1" dirty="0">
                <a:solidFill>
                  <a:schemeClr val="bg2">
                    <a:lumMod val="25000"/>
                  </a:schemeClr>
                </a:solidFill>
              </a:rPr>
              <a:t>7. Literature Review</a:t>
            </a:r>
            <a:endParaRPr lang="en-IN" sz="4000" b="1" dirty="0">
              <a:solidFill>
                <a:schemeClr val="bg2">
                  <a:lumMod val="25000"/>
                </a:schemeClr>
              </a:solidFill>
            </a:endParaRPr>
          </a:p>
        </p:txBody>
      </p:sp>
      <p:sp>
        <p:nvSpPr>
          <p:cNvPr id="3" name="Content Placeholder 2">
            <a:extLst>
              <a:ext uri="{FF2B5EF4-FFF2-40B4-BE49-F238E27FC236}">
                <a16:creationId xmlns:a16="http://schemas.microsoft.com/office/drawing/2014/main" id="{EEDF598B-1949-49D9-AF55-595297A909F7}"/>
              </a:ext>
            </a:extLst>
          </p:cNvPr>
          <p:cNvSpPr>
            <a:spLocks noGrp="1"/>
          </p:cNvSpPr>
          <p:nvPr>
            <p:ph idx="1"/>
          </p:nvPr>
        </p:nvSpPr>
        <p:spPr/>
        <p:txBody>
          <a:bodyPr>
            <a:normAutofit/>
          </a:bodyPr>
          <a:lstStyle/>
          <a:p>
            <a:r>
              <a:rPr lang="en-US" sz="2000" dirty="0"/>
              <a:t>The literature review explores existing studies on cyber security education, particularly for vulnerable populations. It covers best practices for delivering effective workshops, the role of community involvement in cyber education, and the impact of awareness programs on reducing cybercrime. </a:t>
            </a:r>
          </a:p>
          <a:p>
            <a:r>
              <a:rPr lang="en-US" sz="2000" dirty="0"/>
              <a:t>The review identifies gaps in accessible and community-focused cyber security training, which this project aims to address.</a:t>
            </a:r>
            <a:endParaRPr lang="en-IN" sz="2000" dirty="0"/>
          </a:p>
        </p:txBody>
      </p:sp>
    </p:spTree>
    <p:extLst>
      <p:ext uri="{BB962C8B-B14F-4D97-AF65-F5344CB8AC3E}">
        <p14:creationId xmlns:p14="http://schemas.microsoft.com/office/powerpoint/2010/main" val="40873556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EB6D9-BAF1-470D-ACE2-F9B82C0BB204}"/>
              </a:ext>
            </a:extLst>
          </p:cNvPr>
          <p:cNvSpPr>
            <a:spLocks noGrp="1"/>
          </p:cNvSpPr>
          <p:nvPr>
            <p:ph type="title"/>
          </p:nvPr>
        </p:nvSpPr>
        <p:spPr>
          <a:xfrm>
            <a:off x="677334" y="451658"/>
            <a:ext cx="8596668" cy="1320800"/>
          </a:xfrm>
        </p:spPr>
        <p:txBody>
          <a:bodyPr>
            <a:normAutofit/>
          </a:bodyPr>
          <a:lstStyle/>
          <a:p>
            <a:r>
              <a:rPr lang="en-US" sz="4000" b="1" dirty="0">
                <a:solidFill>
                  <a:schemeClr val="bg2">
                    <a:lumMod val="25000"/>
                  </a:schemeClr>
                </a:solidFill>
              </a:rPr>
              <a:t>8. Methodology</a:t>
            </a:r>
            <a:endParaRPr lang="en-IN" sz="4000" b="1" dirty="0">
              <a:solidFill>
                <a:schemeClr val="bg2">
                  <a:lumMod val="25000"/>
                </a:schemeClr>
              </a:solidFill>
            </a:endParaRPr>
          </a:p>
        </p:txBody>
      </p:sp>
      <p:sp>
        <p:nvSpPr>
          <p:cNvPr id="3" name="Content Placeholder 2">
            <a:extLst>
              <a:ext uri="{FF2B5EF4-FFF2-40B4-BE49-F238E27FC236}">
                <a16:creationId xmlns:a16="http://schemas.microsoft.com/office/drawing/2014/main" id="{B348ACCC-3BF3-42D5-A1CF-4C1663E78230}"/>
              </a:ext>
            </a:extLst>
          </p:cNvPr>
          <p:cNvSpPr>
            <a:spLocks noGrp="1"/>
          </p:cNvSpPr>
          <p:nvPr>
            <p:ph idx="1"/>
          </p:nvPr>
        </p:nvSpPr>
        <p:spPr/>
        <p:txBody>
          <a:bodyPr>
            <a:normAutofit/>
          </a:bodyPr>
          <a:lstStyle/>
          <a:p>
            <a:r>
              <a:rPr lang="en-US" sz="2000" b="1" dirty="0"/>
              <a:t>Description of Methods: </a:t>
            </a:r>
            <a:r>
              <a:rPr lang="en-IN" sz="2000" dirty="0"/>
              <a:t>A workshop-based educational approach was adopted for this project. Sessions were conducted in multiple schools and colleges, using simple and engaging teaching materials such as slides, infographics, and live demonstrations.</a:t>
            </a:r>
          </a:p>
          <a:p>
            <a:r>
              <a:rPr lang="en-IN" sz="2000" b="1" dirty="0"/>
              <a:t>Tools Used: </a:t>
            </a:r>
            <a:r>
              <a:rPr lang="en-IN" sz="2000" dirty="0"/>
              <a:t>Microsoft PowerPoint, Canva, Google Forms, and YouTube resources for visual learning.</a:t>
            </a:r>
          </a:p>
          <a:p>
            <a:r>
              <a:rPr lang="en-IN" sz="2000" b="1" dirty="0"/>
              <a:t>Analysis &amp; Interpretation: </a:t>
            </a:r>
            <a:r>
              <a:rPr lang="en-IN" sz="2000" dirty="0"/>
              <a:t>Participants completed pre- and post-session questionnaires, allowing a measurable comparison of cybersecurity knowledge levels before and after the training.</a:t>
            </a:r>
          </a:p>
        </p:txBody>
      </p:sp>
    </p:spTree>
    <p:extLst>
      <p:ext uri="{BB962C8B-B14F-4D97-AF65-F5344CB8AC3E}">
        <p14:creationId xmlns:p14="http://schemas.microsoft.com/office/powerpoint/2010/main" val="36872453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777E09-F4BD-4E70-8A56-8918C2093FAE}"/>
              </a:ext>
            </a:extLst>
          </p:cNvPr>
          <p:cNvSpPr>
            <a:spLocks noGrp="1"/>
          </p:cNvSpPr>
          <p:nvPr>
            <p:ph type="title"/>
          </p:nvPr>
        </p:nvSpPr>
        <p:spPr/>
        <p:txBody>
          <a:bodyPr>
            <a:normAutofit/>
          </a:bodyPr>
          <a:lstStyle/>
          <a:p>
            <a:r>
              <a:rPr lang="en-US" sz="4000" b="1" dirty="0">
                <a:solidFill>
                  <a:schemeClr val="bg2">
                    <a:lumMod val="25000"/>
                  </a:schemeClr>
                </a:solidFill>
              </a:rPr>
              <a:t>9. Project Work</a:t>
            </a:r>
            <a:endParaRPr lang="en-IN" sz="4000" b="1" dirty="0">
              <a:solidFill>
                <a:schemeClr val="bg2">
                  <a:lumMod val="25000"/>
                </a:schemeClr>
              </a:solidFill>
            </a:endParaRPr>
          </a:p>
        </p:txBody>
      </p:sp>
      <p:sp>
        <p:nvSpPr>
          <p:cNvPr id="3" name="Content Placeholder 2">
            <a:extLst>
              <a:ext uri="{FF2B5EF4-FFF2-40B4-BE49-F238E27FC236}">
                <a16:creationId xmlns:a16="http://schemas.microsoft.com/office/drawing/2014/main" id="{10CF3DFD-132A-48F8-A71E-18FCD6681C27}"/>
              </a:ext>
            </a:extLst>
          </p:cNvPr>
          <p:cNvSpPr>
            <a:spLocks noGrp="1"/>
          </p:cNvSpPr>
          <p:nvPr>
            <p:ph idx="1"/>
          </p:nvPr>
        </p:nvSpPr>
        <p:spPr/>
        <p:txBody>
          <a:bodyPr>
            <a:noAutofit/>
          </a:bodyPr>
          <a:lstStyle/>
          <a:p>
            <a:r>
              <a:rPr lang="en-US" sz="2000" b="1" dirty="0"/>
              <a:t>Project Activities: </a:t>
            </a:r>
            <a:r>
              <a:rPr lang="en-US" sz="2000" dirty="0"/>
              <a:t>Workshop Planning and Preparation: Topics were selected based on common cyber security threats and the needs of the target audience. Materials such as </a:t>
            </a:r>
            <a:r>
              <a:rPr lang="en-US" sz="2000" dirty="0" err="1"/>
              <a:t>Newapaper</a:t>
            </a:r>
            <a:r>
              <a:rPr lang="en-US" sz="2000" dirty="0"/>
              <a:t>, Real examples, and presentations were developed. </a:t>
            </a:r>
          </a:p>
          <a:p>
            <a:r>
              <a:rPr lang="en-US" sz="2000" b="1" dirty="0"/>
              <a:t>Conducting Workshops: </a:t>
            </a:r>
            <a:r>
              <a:rPr lang="en-US" sz="2000" dirty="0"/>
              <a:t>The workshops were held at educational content into classrooms across Pune and its surrounding zonal areas . Sessions included live demonstrations, Q&amp;A segments, and interactive activities. </a:t>
            </a:r>
          </a:p>
          <a:p>
            <a:r>
              <a:rPr lang="en-US" sz="2000" b="1" dirty="0"/>
              <a:t>Resource Creation: </a:t>
            </a:r>
            <a:r>
              <a:rPr lang="en-US" sz="2000" dirty="0"/>
              <a:t>Educational resources, including a guidebook on cyber security basics and an instructional video series, were created and distributed to participants.</a:t>
            </a:r>
          </a:p>
          <a:p>
            <a:endParaRPr lang="en-US" sz="2000" dirty="0"/>
          </a:p>
        </p:txBody>
      </p:sp>
    </p:spTree>
    <p:extLst>
      <p:ext uri="{BB962C8B-B14F-4D97-AF65-F5344CB8AC3E}">
        <p14:creationId xmlns:p14="http://schemas.microsoft.com/office/powerpoint/2010/main" val="31776076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CF43F4-3475-474E-9534-BA5BCD765172}"/>
              </a:ext>
            </a:extLst>
          </p:cNvPr>
          <p:cNvSpPr>
            <a:spLocks noGrp="1"/>
          </p:cNvSpPr>
          <p:nvPr>
            <p:ph idx="1"/>
          </p:nvPr>
        </p:nvSpPr>
        <p:spPr/>
        <p:txBody>
          <a:bodyPr>
            <a:normAutofit/>
          </a:bodyPr>
          <a:lstStyle/>
          <a:p>
            <a:r>
              <a:rPr lang="en-US" sz="2000" b="1" dirty="0"/>
              <a:t>Tools and Technologies Used: </a:t>
            </a:r>
            <a:r>
              <a:rPr lang="en-US" sz="2000" dirty="0"/>
              <a:t>Microsoft PowerPoint for presentations, Canva for resource design, and Google Forms for survey data collection. </a:t>
            </a:r>
          </a:p>
          <a:p>
            <a:r>
              <a:rPr lang="en-US" sz="2000" b="1" dirty="0"/>
              <a:t>Challenges and Solutions: </a:t>
            </a:r>
            <a:r>
              <a:rPr lang="en-US" sz="2000" dirty="0"/>
              <a:t>Challenges included ensuring participant engagement and addressing varying levels of digital literacy. These were mitigated by simplifying content and using relatable examples.</a:t>
            </a:r>
            <a:endParaRPr lang="en-IN" sz="2000" dirty="0"/>
          </a:p>
          <a:p>
            <a:endParaRPr lang="en-IN" sz="2000" dirty="0"/>
          </a:p>
        </p:txBody>
      </p:sp>
    </p:spTree>
    <p:extLst>
      <p:ext uri="{BB962C8B-B14F-4D97-AF65-F5344CB8AC3E}">
        <p14:creationId xmlns:p14="http://schemas.microsoft.com/office/powerpoint/2010/main" val="21473372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11">
            <a:extLst>
              <a:ext uri="{FF2B5EF4-FFF2-40B4-BE49-F238E27FC236}">
                <a16:creationId xmlns:a16="http://schemas.microsoft.com/office/drawing/2014/main" id="{CEB4FE3E-1F8C-410F-822F-97F05C390770}"/>
              </a:ext>
            </a:extLst>
          </p:cNvPr>
          <p:cNvPicPr>
            <a:picLocks noGrp="1" noChangeAspect="1"/>
          </p:cNvPicPr>
          <p:nvPr>
            <p:ph type="pic" idx="1"/>
          </p:nvPr>
        </p:nvPicPr>
        <p:blipFill>
          <a:blip r:embed="rId2"/>
          <a:srcRect t="216" b="216"/>
          <a:stretch>
            <a:fillRect/>
          </a:stretch>
        </p:blipFill>
        <p:spPr>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10" name="Text Placeholder 9">
            <a:extLst>
              <a:ext uri="{FF2B5EF4-FFF2-40B4-BE49-F238E27FC236}">
                <a16:creationId xmlns:a16="http://schemas.microsoft.com/office/drawing/2014/main" id="{37478CB2-9B4A-4AE4-92F1-8A31701F3976}"/>
              </a:ext>
            </a:extLst>
          </p:cNvPr>
          <p:cNvSpPr>
            <a:spLocks noGrp="1"/>
          </p:cNvSpPr>
          <p:nvPr>
            <p:ph type="body" sz="half" idx="2"/>
          </p:nvPr>
        </p:nvSpPr>
        <p:spPr>
          <a:xfrm>
            <a:off x="677335" y="4803665"/>
            <a:ext cx="8767290" cy="1196301"/>
          </a:xfrm>
        </p:spPr>
        <p:txBody>
          <a:bodyPr>
            <a:normAutofit lnSpcReduction="10000"/>
          </a:bodyPr>
          <a:lstStyle/>
          <a:p>
            <a:r>
              <a:rPr lang="en-US" sz="2000" dirty="0"/>
              <a:t>Nowadays, many people become victims of online scams because of a lack of awareness. Scammers use fake messages, calls, and websites to steal personal information and money. Students must be careful while sharing details like OTPs, passwords, or bank information online.</a:t>
            </a:r>
            <a:endParaRPr lang="en-IN" sz="2000" dirty="0"/>
          </a:p>
        </p:txBody>
      </p:sp>
    </p:spTree>
    <p:extLst>
      <p:ext uri="{BB962C8B-B14F-4D97-AF65-F5344CB8AC3E}">
        <p14:creationId xmlns:p14="http://schemas.microsoft.com/office/powerpoint/2010/main" val="4846074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7FDB8A24-5491-4F94-AC59-F4B417AEFFA6}"/>
              </a:ext>
            </a:extLst>
          </p:cNvPr>
          <p:cNvPicPr>
            <a:picLocks noGrp="1" noChangeAspect="1"/>
          </p:cNvPicPr>
          <p:nvPr>
            <p:ph type="pic" idx="1"/>
          </p:nvPr>
        </p:nvPicPr>
        <p:blipFill rotWithShape="1">
          <a:blip r:embed="rId2"/>
          <a:srcRect t="46716" r="-9271" b="25143"/>
          <a:stretch/>
        </p:blipFill>
        <p:spPr>
          <a:xfrm>
            <a:off x="517228" y="584083"/>
            <a:ext cx="8978479" cy="3787500"/>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4" name="Text Placeholder 3">
            <a:extLst>
              <a:ext uri="{FF2B5EF4-FFF2-40B4-BE49-F238E27FC236}">
                <a16:creationId xmlns:a16="http://schemas.microsoft.com/office/drawing/2014/main" id="{0F7C9592-9B76-4295-9A08-3BD5434E3A42}"/>
              </a:ext>
            </a:extLst>
          </p:cNvPr>
          <p:cNvSpPr>
            <a:spLocks noGrp="1"/>
          </p:cNvSpPr>
          <p:nvPr>
            <p:ph type="body" sz="half" idx="2"/>
          </p:nvPr>
        </p:nvSpPr>
        <p:spPr>
          <a:xfrm>
            <a:off x="677334" y="4889473"/>
            <a:ext cx="9042863" cy="1799426"/>
          </a:xfrm>
        </p:spPr>
        <p:txBody>
          <a:bodyPr>
            <a:normAutofit lnSpcReduction="10000"/>
          </a:bodyPr>
          <a:lstStyle/>
          <a:p>
            <a:r>
              <a:rPr lang="en-US" sz="2000" dirty="0"/>
              <a:t>In recent years, several newspapers and online news portals have reported cases where students have become victims of online scams. Reading newspaper articles about online fraud keeps people updated about the latest scams and teaches them to stay alert. Schools can also organize newspaper reading sessions or discussions on cybercrime news to spread awareness more effectively.</a:t>
            </a:r>
            <a:endParaRPr lang="en-IN" sz="2000" dirty="0"/>
          </a:p>
        </p:txBody>
      </p:sp>
    </p:spTree>
    <p:extLst>
      <p:ext uri="{BB962C8B-B14F-4D97-AF65-F5344CB8AC3E}">
        <p14:creationId xmlns:p14="http://schemas.microsoft.com/office/powerpoint/2010/main" val="6275742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17E4FC52-23C9-4FE6-8A32-8C54324A1A5A}"/>
              </a:ext>
            </a:extLst>
          </p:cNvPr>
          <p:cNvPicPr>
            <a:picLocks noGrp="1" noChangeAspect="1"/>
          </p:cNvPicPr>
          <p:nvPr>
            <p:ph type="pic" idx="1"/>
          </p:nvPr>
        </p:nvPicPr>
        <p:blipFill>
          <a:blip r:embed="rId2"/>
          <a:srcRect t="216" b="216"/>
          <a:stretch>
            <a:fillRect/>
          </a:stretch>
        </p:blipFill>
        <p:spPr>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4" name="Text Placeholder 3">
            <a:extLst>
              <a:ext uri="{FF2B5EF4-FFF2-40B4-BE49-F238E27FC236}">
                <a16:creationId xmlns:a16="http://schemas.microsoft.com/office/drawing/2014/main" id="{F861030A-85CF-45BB-85F7-11DB39604045}"/>
              </a:ext>
            </a:extLst>
          </p:cNvPr>
          <p:cNvSpPr>
            <a:spLocks noGrp="1"/>
          </p:cNvSpPr>
          <p:nvPr>
            <p:ph type="body" sz="half" idx="2"/>
          </p:nvPr>
        </p:nvSpPr>
        <p:spPr>
          <a:xfrm>
            <a:off x="677334" y="4866297"/>
            <a:ext cx="8779816" cy="1382103"/>
          </a:xfrm>
        </p:spPr>
        <p:txBody>
          <a:bodyPr>
            <a:normAutofit fontScale="92500"/>
          </a:bodyPr>
          <a:lstStyle/>
          <a:p>
            <a:r>
              <a:rPr lang="en-US" sz="2000" dirty="0"/>
              <a:t>According to multiple reports from </a:t>
            </a:r>
            <a:r>
              <a:rPr lang="en-US" sz="2000" i="1" dirty="0"/>
              <a:t>The </a:t>
            </a:r>
            <a:r>
              <a:rPr lang="en-US" sz="2000" b="1" i="1" dirty="0"/>
              <a:t>Times of India</a:t>
            </a:r>
            <a:r>
              <a:rPr lang="en-US" sz="2000" b="1" dirty="0"/>
              <a:t>, </a:t>
            </a:r>
            <a:r>
              <a:rPr lang="en-US" sz="2000" b="1" i="1" dirty="0"/>
              <a:t>Hindustan Times</a:t>
            </a:r>
            <a:r>
              <a:rPr lang="en-US" sz="2000" b="1" dirty="0"/>
              <a:t>, and </a:t>
            </a:r>
            <a:r>
              <a:rPr lang="en-US" sz="2000" b="1" i="1" dirty="0"/>
              <a:t>Indian Express</a:t>
            </a:r>
            <a:r>
              <a:rPr lang="en-US" sz="2000" dirty="0"/>
              <a:t>, hundreds of students across India have lost money or personal data due to fake online schemes. Sharing real cases through newspapers, posters, or school notice boards can help students recognize such threats.</a:t>
            </a:r>
            <a:endParaRPr lang="en-IN" sz="2000" dirty="0"/>
          </a:p>
        </p:txBody>
      </p:sp>
    </p:spTree>
    <p:extLst>
      <p:ext uri="{BB962C8B-B14F-4D97-AF65-F5344CB8AC3E}">
        <p14:creationId xmlns:p14="http://schemas.microsoft.com/office/powerpoint/2010/main" val="41061690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4434A51E-4E9E-4EDA-9814-ACCCC2480B68}"/>
              </a:ext>
            </a:extLst>
          </p:cNvPr>
          <p:cNvSpPr>
            <a:spLocks noGrp="1"/>
          </p:cNvSpPr>
          <p:nvPr>
            <p:ph type="body" sz="half" idx="2"/>
          </p:nvPr>
        </p:nvSpPr>
        <p:spPr>
          <a:xfrm>
            <a:off x="752490" y="4816192"/>
            <a:ext cx="9055389" cy="1495328"/>
          </a:xfrm>
        </p:spPr>
        <p:txBody>
          <a:bodyPr>
            <a:normAutofit/>
          </a:bodyPr>
          <a:lstStyle/>
          <a:p>
            <a:r>
              <a:rPr lang="en-US" sz="2000" dirty="0"/>
              <a:t>Scammers often attract them through fake links, free gift offers, online games, scholarship forms, or job messages that look genuine. When students click on these links or share personal details, scammers steal their information or install harmful software on their devices.</a:t>
            </a:r>
            <a:endParaRPr lang="en-IN" sz="2000" dirty="0"/>
          </a:p>
        </p:txBody>
      </p:sp>
      <p:pic>
        <p:nvPicPr>
          <p:cNvPr id="10" name="Picture Placeholder 9">
            <a:extLst>
              <a:ext uri="{FF2B5EF4-FFF2-40B4-BE49-F238E27FC236}">
                <a16:creationId xmlns:a16="http://schemas.microsoft.com/office/drawing/2014/main" id="{F1D29D10-B5D1-4C87-9154-8B898AC97314}"/>
              </a:ext>
            </a:extLst>
          </p:cNvPr>
          <p:cNvPicPr>
            <a:picLocks noGrp="1" noChangeAspect="1"/>
          </p:cNvPicPr>
          <p:nvPr>
            <p:ph type="pic" idx="1"/>
          </p:nvPr>
        </p:nvPicPr>
        <p:blipFill rotWithShape="1">
          <a:blip r:embed="rId2"/>
          <a:srcRect l="6546" t="30028" b="39213"/>
          <a:stretch/>
        </p:blipFill>
        <p:spPr>
          <a:xfrm>
            <a:off x="958704" y="546480"/>
            <a:ext cx="8033925" cy="3970751"/>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26444498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0486A12C-2CB6-4E96-A8CD-8021CF41AE79}"/>
              </a:ext>
            </a:extLst>
          </p:cNvPr>
          <p:cNvPicPr>
            <a:picLocks noGrp="1" noChangeAspect="1"/>
          </p:cNvPicPr>
          <p:nvPr>
            <p:ph type="pic" idx="1"/>
          </p:nvPr>
        </p:nvPicPr>
        <p:blipFill>
          <a:blip r:embed="rId2"/>
          <a:srcRect t="216" b="216"/>
          <a:stretch>
            <a:fillRect/>
          </a:stretch>
        </p:blipFill>
        <p:spPr>
          <a:xfrm>
            <a:off x="677334" y="609600"/>
            <a:ext cx="8596668" cy="3912296"/>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4" name="Text Placeholder 3">
            <a:extLst>
              <a:ext uri="{FF2B5EF4-FFF2-40B4-BE49-F238E27FC236}">
                <a16:creationId xmlns:a16="http://schemas.microsoft.com/office/drawing/2014/main" id="{4037E52F-9DFD-4494-A7C6-CE8D06F84EE0}"/>
              </a:ext>
            </a:extLst>
          </p:cNvPr>
          <p:cNvSpPr>
            <a:spLocks noGrp="1"/>
          </p:cNvSpPr>
          <p:nvPr>
            <p:ph type="body" sz="half" idx="2"/>
          </p:nvPr>
        </p:nvSpPr>
        <p:spPr>
          <a:xfrm>
            <a:off x="677334" y="4922729"/>
            <a:ext cx="8854973" cy="1565754"/>
          </a:xfrm>
        </p:spPr>
        <p:txBody>
          <a:bodyPr>
            <a:normAutofit/>
          </a:bodyPr>
          <a:lstStyle/>
          <a:p>
            <a:r>
              <a:rPr lang="en-US" sz="1900" dirty="0"/>
              <a:t>Students often get trapped by fake calls, messages, or offers pretending to be from banks or scholarships.</a:t>
            </a:r>
            <a:br>
              <a:rPr lang="en-US" sz="1900" dirty="0"/>
            </a:br>
            <a:r>
              <a:rPr lang="en-US" sz="1900" dirty="0"/>
              <a:t>Scammers ask for OTP, PIN, or account details to steal money.</a:t>
            </a:r>
            <a:br>
              <a:rPr lang="en-US" sz="1900" dirty="0"/>
            </a:br>
            <a:r>
              <a:rPr lang="en-US" sz="1900" b="1" dirty="0"/>
              <a:t>Precautions: </a:t>
            </a:r>
            <a:r>
              <a:rPr lang="en-US" sz="1900" dirty="0"/>
              <a:t>Never share personal banking info, verify messages with your bank, and report suspicious activity immediately.</a:t>
            </a:r>
          </a:p>
          <a:p>
            <a:endParaRPr lang="en-IN" sz="1900" dirty="0"/>
          </a:p>
        </p:txBody>
      </p:sp>
    </p:spTree>
    <p:extLst>
      <p:ext uri="{BB962C8B-B14F-4D97-AF65-F5344CB8AC3E}">
        <p14:creationId xmlns:p14="http://schemas.microsoft.com/office/powerpoint/2010/main" val="24576277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4CDD69-351C-44DA-8C6C-DA306F4D9F05}"/>
              </a:ext>
            </a:extLst>
          </p:cNvPr>
          <p:cNvSpPr>
            <a:spLocks noGrp="1"/>
          </p:cNvSpPr>
          <p:nvPr>
            <p:ph type="title"/>
          </p:nvPr>
        </p:nvSpPr>
        <p:spPr/>
        <p:txBody>
          <a:bodyPr>
            <a:normAutofit/>
          </a:bodyPr>
          <a:lstStyle/>
          <a:p>
            <a:r>
              <a:rPr lang="en-US" sz="4000" b="1" dirty="0">
                <a:solidFill>
                  <a:schemeClr val="bg2">
                    <a:lumMod val="25000"/>
                  </a:schemeClr>
                </a:solidFill>
              </a:rPr>
              <a:t>10. Results and Discussion</a:t>
            </a:r>
            <a:endParaRPr lang="en-IN" sz="4000" b="1" dirty="0">
              <a:solidFill>
                <a:schemeClr val="bg2">
                  <a:lumMod val="25000"/>
                </a:schemeClr>
              </a:solidFill>
            </a:endParaRPr>
          </a:p>
        </p:txBody>
      </p:sp>
      <p:sp>
        <p:nvSpPr>
          <p:cNvPr id="3" name="Content Placeholder 2">
            <a:extLst>
              <a:ext uri="{FF2B5EF4-FFF2-40B4-BE49-F238E27FC236}">
                <a16:creationId xmlns:a16="http://schemas.microsoft.com/office/drawing/2014/main" id="{F36955D2-BCE2-4836-B70A-EBE4E03578BC}"/>
              </a:ext>
            </a:extLst>
          </p:cNvPr>
          <p:cNvSpPr>
            <a:spLocks noGrp="1"/>
          </p:cNvSpPr>
          <p:nvPr>
            <p:ph idx="1"/>
          </p:nvPr>
        </p:nvSpPr>
        <p:spPr>
          <a:xfrm>
            <a:off x="587687" y="2079906"/>
            <a:ext cx="8596668" cy="3880773"/>
          </a:xfrm>
        </p:spPr>
        <p:txBody>
          <a:bodyPr>
            <a:noAutofit/>
          </a:bodyPr>
          <a:lstStyle/>
          <a:p>
            <a:r>
              <a:rPr lang="en-US" sz="2000" b="1" dirty="0"/>
              <a:t>Findings: </a:t>
            </a:r>
            <a:r>
              <a:rPr lang="en-IN" sz="2000" dirty="0"/>
              <a:t>The workshops produced highly positive results — most participants reported significant improvement in their understanding of online safety and digital </a:t>
            </a:r>
            <a:r>
              <a:rPr lang="en-IN" sz="2000" dirty="0" err="1"/>
              <a:t>behavior</a:t>
            </a:r>
            <a:r>
              <a:rPr lang="en-IN" sz="2000" dirty="0"/>
              <a:t>.</a:t>
            </a:r>
          </a:p>
          <a:p>
            <a:r>
              <a:rPr lang="en-US" sz="2000" b="1" dirty="0"/>
              <a:t>Analysis: </a:t>
            </a:r>
            <a:r>
              <a:rPr lang="en-US" sz="2000" dirty="0"/>
              <a:t>The positive feedback suggests that the hands-on and community focused approach was effective. Participants particularly appreciated the practical tips and the interactive format of the workshops. </a:t>
            </a:r>
          </a:p>
          <a:p>
            <a:r>
              <a:rPr lang="en-US" sz="2000" b="1" dirty="0"/>
              <a:t>Implications: </a:t>
            </a:r>
            <a:r>
              <a:rPr lang="en-IN" sz="2000" dirty="0"/>
              <a:t>Many students expressed that this was their first exposure to structured cybersecurity training.</a:t>
            </a:r>
            <a:r>
              <a:rPr lang="en-US" sz="2000" dirty="0"/>
              <a:t>It also suggests that similar initiatives could be scaled to other communities with similar needs.</a:t>
            </a:r>
            <a:endParaRPr lang="en-IN" sz="2000" dirty="0"/>
          </a:p>
        </p:txBody>
      </p:sp>
    </p:spTree>
    <p:extLst>
      <p:ext uri="{BB962C8B-B14F-4D97-AF65-F5344CB8AC3E}">
        <p14:creationId xmlns:p14="http://schemas.microsoft.com/office/powerpoint/2010/main" val="23899519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FBCAD0-81BC-40AB-8673-48837C8E79D6}"/>
              </a:ext>
            </a:extLst>
          </p:cNvPr>
          <p:cNvSpPr>
            <a:spLocks noGrp="1"/>
          </p:cNvSpPr>
          <p:nvPr>
            <p:ph type="title"/>
          </p:nvPr>
        </p:nvSpPr>
        <p:spPr/>
        <p:txBody>
          <a:bodyPr>
            <a:normAutofit/>
          </a:bodyPr>
          <a:lstStyle/>
          <a:p>
            <a:r>
              <a:rPr lang="en-US" sz="4000" b="1" dirty="0">
                <a:solidFill>
                  <a:schemeClr val="bg2">
                    <a:lumMod val="25000"/>
                  </a:schemeClr>
                </a:solidFill>
              </a:rPr>
              <a:t>11. Conclusion</a:t>
            </a:r>
            <a:endParaRPr lang="en-IN" sz="4000" b="1" dirty="0">
              <a:solidFill>
                <a:schemeClr val="bg2">
                  <a:lumMod val="25000"/>
                </a:schemeClr>
              </a:solidFill>
            </a:endParaRPr>
          </a:p>
        </p:txBody>
      </p:sp>
      <p:sp>
        <p:nvSpPr>
          <p:cNvPr id="3" name="Content Placeholder 2">
            <a:extLst>
              <a:ext uri="{FF2B5EF4-FFF2-40B4-BE49-F238E27FC236}">
                <a16:creationId xmlns:a16="http://schemas.microsoft.com/office/drawing/2014/main" id="{AA515998-65F6-441A-AB13-60D5EBECC592}"/>
              </a:ext>
            </a:extLst>
          </p:cNvPr>
          <p:cNvSpPr>
            <a:spLocks noGrp="1"/>
          </p:cNvSpPr>
          <p:nvPr>
            <p:ph idx="1"/>
          </p:nvPr>
        </p:nvSpPr>
        <p:spPr/>
        <p:txBody>
          <a:bodyPr>
            <a:normAutofit/>
          </a:bodyPr>
          <a:lstStyle/>
          <a:p>
            <a:r>
              <a:rPr lang="en-IN" sz="2200" dirty="0"/>
              <a:t>The project successfully fulfilled its objective of </a:t>
            </a:r>
            <a:r>
              <a:rPr lang="en-IN" sz="2200" b="1" dirty="0"/>
              <a:t>spreading cybersecurity awareness</a:t>
            </a:r>
            <a:r>
              <a:rPr lang="en-IN" sz="2200" dirty="0"/>
              <a:t> among students across Pune and nearby regions.</a:t>
            </a:r>
            <a:br>
              <a:rPr lang="en-IN" sz="2200" dirty="0"/>
            </a:br>
            <a:r>
              <a:rPr lang="en-IN" sz="2200" dirty="0"/>
              <a:t>The initiative’s success suggests that </a:t>
            </a:r>
            <a:r>
              <a:rPr lang="en-IN" sz="2200" b="1" dirty="0"/>
              <a:t>integrating cybersecurity education into regular classroom activities</a:t>
            </a:r>
            <a:r>
              <a:rPr lang="en-IN" sz="2200" dirty="0"/>
              <a:t> can effectively promote digital safety and responsible online </a:t>
            </a:r>
            <a:r>
              <a:rPr lang="en-IN" sz="2200" dirty="0" err="1"/>
              <a:t>behavior</a:t>
            </a:r>
            <a:r>
              <a:rPr lang="en-IN" sz="2200" dirty="0"/>
              <a:t>.</a:t>
            </a:r>
            <a:br>
              <a:rPr lang="en-IN" sz="2200" dirty="0"/>
            </a:br>
            <a:r>
              <a:rPr lang="en-IN" sz="2200" dirty="0"/>
              <a:t>Future plans include expanding the workshops to more rural schools and introducing advanced cybersecurity topics</a:t>
            </a:r>
          </a:p>
        </p:txBody>
      </p:sp>
    </p:spTree>
    <p:extLst>
      <p:ext uri="{BB962C8B-B14F-4D97-AF65-F5344CB8AC3E}">
        <p14:creationId xmlns:p14="http://schemas.microsoft.com/office/powerpoint/2010/main" val="10123002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38658-93B7-4735-A450-71B6C26CFC32}"/>
              </a:ext>
            </a:extLst>
          </p:cNvPr>
          <p:cNvSpPr>
            <a:spLocks noGrp="1"/>
          </p:cNvSpPr>
          <p:nvPr>
            <p:ph type="title"/>
          </p:nvPr>
        </p:nvSpPr>
        <p:spPr>
          <a:xfrm>
            <a:off x="617782" y="397057"/>
            <a:ext cx="8596668" cy="1320800"/>
          </a:xfrm>
        </p:spPr>
        <p:txBody>
          <a:bodyPr>
            <a:normAutofit/>
          </a:bodyPr>
          <a:lstStyle/>
          <a:p>
            <a:r>
              <a:rPr lang="en-US" sz="4000" b="1" dirty="0">
                <a:solidFill>
                  <a:schemeClr val="bg2">
                    <a:lumMod val="25000"/>
                  </a:schemeClr>
                </a:solidFill>
              </a:rPr>
              <a:t>12. Certificates</a:t>
            </a:r>
            <a:endParaRPr lang="en-IN" sz="4000" b="1" dirty="0">
              <a:solidFill>
                <a:schemeClr val="bg2">
                  <a:lumMod val="25000"/>
                </a:schemeClr>
              </a:solidFill>
            </a:endParaRPr>
          </a:p>
        </p:txBody>
      </p:sp>
      <p:pic>
        <p:nvPicPr>
          <p:cNvPr id="5" name="Content Placeholder 4">
            <a:extLst>
              <a:ext uri="{FF2B5EF4-FFF2-40B4-BE49-F238E27FC236}">
                <a16:creationId xmlns:a16="http://schemas.microsoft.com/office/drawing/2014/main" id="{42660E02-CF92-46E5-A79B-5CF35991AF6E}"/>
              </a:ext>
            </a:extLst>
          </p:cNvPr>
          <p:cNvPicPr>
            <a:picLocks noGrp="1" noChangeAspect="1"/>
          </p:cNvPicPr>
          <p:nvPr>
            <p:ph idx="1"/>
          </p:nvPr>
        </p:nvPicPr>
        <p:blipFill>
          <a:blip r:embed="rId2"/>
          <a:stretch>
            <a:fillRect/>
          </a:stretch>
        </p:blipFill>
        <p:spPr>
          <a:xfrm>
            <a:off x="617782" y="1404852"/>
            <a:ext cx="8260211" cy="3735292"/>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11" name="Rectangle 4">
            <a:extLst>
              <a:ext uri="{FF2B5EF4-FFF2-40B4-BE49-F238E27FC236}">
                <a16:creationId xmlns:a16="http://schemas.microsoft.com/office/drawing/2014/main" id="{E360D973-D301-4488-9E48-F8DA823603EA}"/>
              </a:ext>
            </a:extLst>
          </p:cNvPr>
          <p:cNvSpPr>
            <a:spLocks noChangeArrowheads="1"/>
          </p:cNvSpPr>
          <p:nvPr/>
        </p:nvSpPr>
        <p:spPr bwMode="auto">
          <a:xfrm>
            <a:off x="357447" y="5401381"/>
            <a:ext cx="9551323"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u="none" strike="noStrike" cap="none" normalizeH="0" baseline="0" dirty="0">
                <a:ln>
                  <a:noFill/>
                </a:ln>
                <a:solidFill>
                  <a:schemeClr val="tx1"/>
                </a:solidFill>
                <a:effectLst/>
                <a:latin typeface="Trebuchet MS (Body)"/>
              </a:rPr>
              <a:t>The other project team with the Principal </a:t>
            </a:r>
            <a:r>
              <a:rPr lang="en-US" altLang="en-US" sz="2000" dirty="0">
                <a:latin typeface="Trebuchet MS (Body)"/>
              </a:rPr>
              <a:t>sir</a:t>
            </a:r>
            <a:r>
              <a:rPr kumimoji="0" lang="en-US" altLang="en-US" sz="2000" u="none" strike="noStrike" cap="none" normalizeH="0" baseline="0" dirty="0">
                <a:ln>
                  <a:noFill/>
                </a:ln>
                <a:solidFill>
                  <a:schemeClr val="tx1"/>
                </a:solidFill>
                <a:effectLst/>
                <a:latin typeface="Trebuchet MS (Body)"/>
              </a:rPr>
              <a:t> after the successful completion of the project, expressing gratitude for the continuous encouragement, academic support, and valuable guidance provided throughout the duration of the work.</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u="none" strike="noStrike" cap="none" normalizeH="0" baseline="0" dirty="0">
              <a:ln>
                <a:noFill/>
              </a:ln>
              <a:solidFill>
                <a:schemeClr val="tx1"/>
              </a:solidFill>
              <a:effectLst/>
              <a:latin typeface="Trebuchet MS (Body)"/>
            </a:endParaRPr>
          </a:p>
        </p:txBody>
      </p:sp>
    </p:spTree>
    <p:extLst>
      <p:ext uri="{BB962C8B-B14F-4D97-AF65-F5344CB8AC3E}">
        <p14:creationId xmlns:p14="http://schemas.microsoft.com/office/powerpoint/2010/main" val="11382271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Facet</Template>
  <TotalTime>356</TotalTime>
  <Words>1373</Words>
  <Application>Microsoft Office PowerPoint</Application>
  <PresentationFormat>Widescreen</PresentationFormat>
  <Paragraphs>60</Paragraphs>
  <Slides>20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Arial</vt:lpstr>
      <vt:lpstr>Engravers MT</vt:lpstr>
      <vt:lpstr>Trebuchet MS</vt:lpstr>
      <vt:lpstr>Trebuchet MS (Body)</vt:lpstr>
      <vt:lpstr>Wingdings</vt:lpstr>
      <vt:lpstr>Wingdings 3</vt:lpstr>
      <vt:lpstr>Facet</vt:lpstr>
      <vt:lpstr>Cyber Security Awareness</vt:lpstr>
      <vt:lpstr>1. Project Details </vt:lpstr>
      <vt:lpstr>2.Workshop Agenda</vt:lpstr>
      <vt:lpstr>3. Declaration</vt:lpstr>
      <vt:lpstr>4. Acknowledgment</vt:lpstr>
      <vt:lpstr>5. Abstract</vt:lpstr>
      <vt:lpstr>6. Introduction</vt:lpstr>
      <vt:lpstr>PowerPoint Presentation</vt:lpstr>
      <vt:lpstr>7. Literature Review</vt:lpstr>
      <vt:lpstr>8. Methodology</vt:lpstr>
      <vt:lpstr>9. Project Work</vt:lpstr>
      <vt:lpstr>PowerPoint Presentation</vt:lpstr>
      <vt:lpstr>PowerPoint Presentation</vt:lpstr>
      <vt:lpstr>PowerPoint Presentation</vt:lpstr>
      <vt:lpstr>PowerPoint Presentation</vt:lpstr>
      <vt:lpstr>PowerPoint Presentation</vt:lpstr>
      <vt:lpstr>PowerPoint Presentation</vt:lpstr>
      <vt:lpstr>10. Results and Discussion</vt:lpstr>
      <vt:lpstr>11. Conclusion</vt:lpstr>
      <vt:lpstr>12. Certificates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 Security Awareness</dc:title>
  <dc:creator>ADMIN</dc:creator>
  <cp:lastModifiedBy>ADMIN</cp:lastModifiedBy>
  <cp:revision>36</cp:revision>
  <dcterms:created xsi:type="dcterms:W3CDTF">2025-09-30T16:17:38Z</dcterms:created>
  <dcterms:modified xsi:type="dcterms:W3CDTF">2025-11-04T11:02:25Z</dcterms:modified>
</cp:coreProperties>
</file>